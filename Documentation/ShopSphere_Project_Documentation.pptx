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235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35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35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35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7.53</c:v>
                </c:pt>
                <c:pt idx="1">
                  <c:v>5.96</c:v>
                </c:pt>
                <c:pt idx="2">
                  <c:v>4.73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DA2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A6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35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14</c:v>
                </c:pt>
                <c:pt idx="2">
                  <c:v>12.4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A6B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A6B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Electronics</c:v>
                  </c:pt>
                  <c:pt idx="1">
                    <c:v>Grocery &amp; Staples</c:v>
                  </c:pt>
                  <c:pt idx="2">
                    <c:v>Home &amp; Kitchen</c:v>
                  </c:pt>
                  <c:pt idx="3">
                    <c:v>Sports &amp; Fitness</c:v>
                  </c:pt>
                  <c:pt idx="4">
                    <c:v>Toys &amp; Baby</c:v>
                  </c:pt>
                  <c:pt idx="5">
                    <c:v>Books &amp; Stationery</c:v>
                  </c:pt>
                  <c:pt idx="6">
                    <c:v>Fashion</c:v>
                  </c:pt>
                  <c:pt idx="7">
                    <c:v>Beauty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</c:v>
                </c:pt>
                <c:pt idx="1">
                  <c:v>14.8</c:v>
                </c:pt>
                <c:pt idx="2">
                  <c:v>20.8</c:v>
                </c:pt>
                <c:pt idx="3">
                  <c:v>26</c:v>
                </c:pt>
                <c:pt idx="4">
                  <c:v>29.7</c:v>
                </c:pt>
                <c:pt idx="5">
                  <c:v>30.8</c:v>
                </c:pt>
                <c:pt idx="6">
                  <c:v>42.7</c:v>
                </c:pt>
                <c:pt idx="7">
                  <c:v>45.1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AA6B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Monsoon Carnival</c:v>
                  </c:pt>
                  <c:pt idx="1">
                    <c:v>Summer Fest</c:v>
                  </c:pt>
                  <c:pt idx="2">
                    <c:v>Independence Sale</c:v>
                  </c:pt>
                  <c:pt idx="3">
                    <c:v>App Exclusive</c:v>
                  </c:pt>
                  <c:pt idx="4">
                    <c:v>Republic Day</c:v>
                  </c:pt>
                  <c:pt idx="5">
                    <c:v>Year End Clearance</c:v>
                  </c:pt>
                  <c:pt idx="6">
                    <c:v>Festive Dhamaka</c:v>
                  </c:pt>
                  <c:pt idx="7">
                    <c:v>No Campaign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2.5</c:v>
                </c:pt>
                <c:pt idx="1">
                  <c:v>3.3</c:v>
                </c:pt>
                <c:pt idx="2">
                  <c:v>7</c:v>
                </c:pt>
                <c:pt idx="3">
                  <c:v>8.8</c:v>
                </c:pt>
                <c:pt idx="4">
                  <c:v>9.6</c:v>
                </c:pt>
                <c:pt idx="5">
                  <c:v>11.4</c:v>
                </c:pt>
                <c:pt idx="6">
                  <c:v>13.4</c:v>
                </c:pt>
                <c:pt idx="7">
                  <c:v>24.4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DA2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2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Quality</c:v>
                  </c:pt>
                  <c:pt idx="1">
                    <c:v>Late Delivery</c:v>
                  </c:pt>
                  <c:pt idx="2">
                    <c:v>Damaged</c:v>
                  </c:pt>
                  <c:pt idx="3">
                    <c:v>Wrong Item</c:v>
                  </c:pt>
                  <c:pt idx="4">
                    <c:v>Size Issue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</c:v>
                </c:pt>
                <c:pt idx="1">
                  <c:v>157</c:v>
                </c:pt>
                <c:pt idx="2">
                  <c:v>390</c:v>
                </c:pt>
                <c:pt idx="3">
                  <c:v>393</c:v>
                </c:pt>
                <c:pt idx="4">
                  <c:v>630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754880" cy="4754880"/>
          </a:xfrm>
          <a:prstGeom prst="ellipse">
            <a:avLst/>
          </a:prstGeom>
          <a:solidFill>
            <a:srgbClr val="1AA6B7">
              <a:alpha val="18000"/>
            </a:srgbClr>
          </a:solidFill>
          <a:ln w="12700">
            <a:solidFill>
              <a:srgbClr val="1AA6B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566160"/>
            <a:ext cx="3108960" cy="3108960"/>
          </a:xfrm>
          <a:prstGeom prst="ellipse">
            <a:avLst/>
          </a:prstGeom>
          <a:solidFill>
            <a:srgbClr val="F2A541">
              <a:alpha val="12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|  MYSQL + POWER BI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686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822960" cy="5486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profit is earned, and where it leaks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868680"/>
            <a:ext cx="3840480" cy="2332495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25400">
            <a:solidFill>
              <a:srgbClr val="1AA6B7"/>
            </a:solidFill>
            <a:prstDash val="solid"/>
          </a:ln>
        </p:spPr>
      </p:sp>
      <p:pic>
        <p:nvPicPr>
          <p:cNvPr id="10" name="Image 0" descr="/mnt/user-data/uploads/179256254757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05840"/>
            <a:ext cx="3657600" cy="205817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3520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4A78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₹18.22M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69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633472" y="3520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4A78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70632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₹2.25M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770632" y="4069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18304" y="3520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4A78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55464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2,230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4855464" y="4069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03136" y="3520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4A78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0296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940296" y="4069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Sameer Ahamed S   |   Anudip Foundation   |   DBA_AI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sells on four channels but has no single view of profit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sells through a website, a mobile app, physical stores and marketplaces. Sales data sits in four separate tables, so leadership cannot see where money is made or lost.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64008" cy="1188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101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"Sales" means Delivered orders only. Cancelled, returned and in-transit orders are not revenue.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we answer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1975104"/>
            <a:ext cx="274320" cy="27432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sales and profit change over time?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44144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2542032"/>
            <a:ext cx="274320" cy="27432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4414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categories, regions and channels earn most?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3108960"/>
            <a:ext cx="274320" cy="27432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0083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 campaigns make money?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57530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3675888"/>
            <a:ext cx="274320" cy="27432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73168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5753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returns cost?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414223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4242816"/>
            <a:ext cx="274320" cy="27432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3168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41422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best customers?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took the raw files to an interactive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1920240" cy="8229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Clean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spaces, blanks and labels fixed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33472" y="16002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1600200"/>
            <a:ext cx="1920240" cy="82296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Store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16352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database loaded with clean tables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18304" y="16002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8304" y="1600200"/>
            <a:ext cx="1920240" cy="8229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01184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Analyse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business questions answered with joins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03136" y="16002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600200"/>
            <a:ext cx="1920240" cy="8229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6016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Visualise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86016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Query, DAX measures, 2-page dashboard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8800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828800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52928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77056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77056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01184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01184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25312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5312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49440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73568" y="400507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73568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connects four tables through ID columns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965960"/>
            <a:ext cx="0" cy="365760"/>
          </a:xfrm>
          <a:prstGeom prst="line">
            <a:avLst/>
          </a:prstGeom>
          <a:noFill/>
          <a:ln w="25400">
            <a:solidFill>
              <a:srgbClr val="6B7C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880360"/>
            <a:ext cx="1280160" cy="0"/>
          </a:xfrm>
          <a:prstGeom prst="line">
            <a:avLst/>
          </a:prstGeom>
          <a:noFill/>
          <a:ln w="25400">
            <a:solidFill>
              <a:srgbClr val="6B7C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2880360"/>
            <a:ext cx="1280160" cy="0"/>
          </a:xfrm>
          <a:prstGeom prst="line">
            <a:avLst/>
          </a:prstGeom>
          <a:noFill/>
          <a:ln w="25400">
            <a:solidFill>
              <a:srgbClr val="6B7C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4173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1AA6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490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82880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1,004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3317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(fact)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 order lines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1AA6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products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468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1AA6B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customers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 one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sale points to one customer, product and date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3703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live only in the dimension tables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7033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clear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flow from the small tables to the sales 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data issues were fixed before any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64008" cy="7315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 lines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Removed, one copy kept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600200"/>
            <a:ext cx="64008" cy="7315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spaces in name / city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00200"/>
            <a:ext cx="64008" cy="731520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7648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spelled differently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53288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624328"/>
            <a:ext cx="64008" cy="7315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781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written as "None"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200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"No Campaign"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253288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624328"/>
            <a:ext cx="64008" cy="731520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38728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2,460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353872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return reason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38728" y="3200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"Not Returned"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53288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624328"/>
            <a:ext cx="64008" cy="7315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7648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32764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discount %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27648" y="3200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amounts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557016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648456"/>
            <a:ext cx="64008" cy="7315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3602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" y="40142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delivery days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 minus order date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37560" y="3557016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3648456"/>
            <a:ext cx="64008" cy="7315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38728" y="3602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3538728" y="40142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labels "and" vs "&amp;"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538728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products table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3557016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3648456"/>
            <a:ext cx="64008" cy="731520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3602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6327648" y="40142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in capital letters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327648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customers table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55371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kept on purpose: 370 delivery dates and ratings do not exist for returned, cancelled or in-transit orders.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QUESTIONS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questions on time, regions, products and campaigns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64008" cy="493776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709928"/>
            <a:ext cx="365760" cy="36576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15544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sales and profit change each year?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64008" cy="49377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7099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15544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makes the most profit?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34086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32304"/>
            <a:ext cx="64008" cy="493776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2496312"/>
            <a:ext cx="365760" cy="36576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23408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sells the most?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34086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32304"/>
            <a:ext cx="64008" cy="493776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2496312"/>
            <a:ext cx="365760" cy="36576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46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23408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months sell the most in 2025?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12724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218688"/>
            <a:ext cx="64008" cy="4937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282696"/>
            <a:ext cx="365760" cy="36576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312724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top 10 customers?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12724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218688"/>
            <a:ext cx="64008" cy="493776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3282696"/>
            <a:ext cx="365760" cy="365760"/>
          </a:xfrm>
          <a:prstGeom prst="ellipse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64608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76672" y="312724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weekends sell more than weekdays?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91363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005072"/>
            <a:ext cx="64008" cy="49377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" y="406908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61872" y="39136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gets the most returns?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63440" y="391363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005072"/>
            <a:ext cx="64008" cy="49377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406908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6460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376672" y="39136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campaigns make money?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QUESTIONS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questions on customers, products, delivery and returns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64008" cy="4937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709928"/>
            <a:ext cx="365760" cy="36576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15544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loyalty tier spends the most?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64008" cy="49377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7099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155448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5 products make the most profit?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34086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32304"/>
            <a:ext cx="64008" cy="4937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2496312"/>
            <a:ext cx="365760" cy="36576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23408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customers never bought?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34086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32304"/>
            <a:ext cx="64008" cy="4937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2496312"/>
            <a:ext cx="365760" cy="36576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646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76672" y="23408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delivery take in each region?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12724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218688"/>
            <a:ext cx="64008" cy="49377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282696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312724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gets the best ratings?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312724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218688"/>
            <a:ext cx="64008" cy="4937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3282696"/>
            <a:ext cx="365760" cy="36576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64608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376672" y="312724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5 sales reps earn the most profit?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91363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005072"/>
            <a:ext cx="64008" cy="4937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" y="4069080"/>
            <a:ext cx="365760" cy="36576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61872" y="391363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returns cost, and why?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63440" y="391363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9204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892040" y="4224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GROUP BY, SUM / COUNT / AVG, subquery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fell in 2025, but profit held steady as margin rose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(₹ million)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7548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(%)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54880" y="178308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₹827K in 2024, ₹833K in 2025, ₹588K in 2026.   *2026 data runs to September.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gives 68% of sales but keeps only 4.2% margin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 (%)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1600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1691640"/>
            <a:ext cx="64008" cy="7315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673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₹12.35M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sales, but only ₹521K profit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2743200"/>
            <a:ext cx="64008" cy="731520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2724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₹474K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profit from 1.11M of sales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37033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3794760"/>
            <a:ext cx="64008" cy="731520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776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₹310K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profit from 0.69M of sales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LEAKS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and returns are where profit leaks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campaign (%)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8463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lost to returns (₹ thousand)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846320" y="178308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84632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returned orders cost ₹1.68M in sales and ₹276K in profit.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1, Executive Summary: sales, profit and trends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pic>
        <p:nvPicPr>
          <p:cNvPr id="7" name="Image 0" descr="/mnt/user-data/uploads/179256254757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77840" cy="313871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544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10528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orders and margin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606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0528" y="2679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0528" y="29718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category, channel and loyalty tier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657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0528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10528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in one card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2, Regions and Returns: where profit leaks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pic>
        <p:nvPicPr>
          <p:cNvPr id="7" name="Image 0" descr="/mnt/user-data/uploads/179256256964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77840" cy="31148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544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10528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return rate and sales lost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606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0528" y="2679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and regions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0528" y="29718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by campaign, sales by region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657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0528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10528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sales and profit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A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would protect profit and win back customers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ShopSphere Retail Sales Analytics  |  Sameer Ahamed 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27632"/>
            <a:ext cx="64008" cy="4572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5544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electronics pricing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5544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higher-margin Fashion and Beauty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40864"/>
            <a:ext cx="64008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26771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campaign discount depth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26771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Carnival earns only 2.5%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54096"/>
            <a:ext cx="64008" cy="457200"/>
          </a:xfrm>
          <a:prstGeom prst="rect">
            <a:avLst/>
          </a:prstGeom>
          <a:solidFill>
            <a:srgbClr val="1AA6B7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98094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returns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98094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size guides and a packing check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67328"/>
            <a:ext cx="64008" cy="45720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69417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 103 customers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69417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never placed an order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product per order, no sales targets, 2026 data ends in September, customer names are not unique.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ShopSphere Retail Sales Analytics</dc:title>
  <dc:subject>PptxGenJS Presentation</dc:subject>
  <dc:creator>Sameer Ahamed S</dc:creator>
  <cp:lastModifiedBy>Sameer Ahamed S</cp:lastModifiedBy>
  <cp:revision>1</cp:revision>
  <dcterms:created xsi:type="dcterms:W3CDTF">2026-10-21T07:04:53Z</dcterms:created>
  <dcterms:modified xsi:type="dcterms:W3CDTF">2026-10-21T07:04:53Z</dcterms:modified>
</cp:coreProperties>
</file>